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8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1064240" cy="18288"/>
          </a:xfrm>
          <a:prstGeom prst="rect">
            <a:avLst/>
          </a:prstGeom>
          <a:solidFill>
            <a:srgbClr val="A89BF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A89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MURROR  ·  CODEPET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0" y="77724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600" kern="0" dirty="0">
                <a:solidFill>
                  <a:srgbClr val="A89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GUIDELINES  ·  v1.0  ·  APRIL 2026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9144000" y="1463040"/>
            <a:ext cx="2468880" cy="246888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6" name="Image 0" descr="/sessions/ecstatic-lucid-albattani/mnt/outputs/brand-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0" y="1600200"/>
            <a:ext cx="2194560" cy="2194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173736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</a:t>
            </a:r>
            <a:endParaRPr lang="en-US" sz="9600" dirty="0"/>
          </a:p>
        </p:txBody>
      </p:sp>
      <p:sp>
        <p:nvSpPr>
          <p:cNvPr id="8" name="Text 5"/>
          <p:cNvSpPr/>
          <p:nvPr/>
        </p:nvSpPr>
        <p:spPr>
          <a:xfrm>
            <a:off x="548640" y="301752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i="1" dirty="0">
                <a:solidFill>
                  <a:srgbClr val="A89B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Guidelines.</a:t>
            </a:r>
            <a:endParaRPr lang="en-US" sz="9600" dirty="0"/>
          </a:p>
        </p:txBody>
      </p:sp>
      <p:sp>
        <p:nvSpPr>
          <p:cNvPr id="9" name="Shape 6"/>
          <p:cNvSpPr/>
          <p:nvPr/>
        </p:nvSpPr>
        <p:spPr>
          <a:xfrm>
            <a:off x="548640" y="4937760"/>
            <a:ext cx="54864" cy="1188720"/>
          </a:xfrm>
          <a:prstGeom prst="rect">
            <a:avLst/>
          </a:prstGeom>
          <a:solidFill>
            <a:srgbClr val="7B6BD8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49377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reference for the Codepet brand system.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77240" y="54406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9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Logo, color, typography, voice, and character standards.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9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internal teams, partners, and external collaborators.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A89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CODEPET  ·  BRAND GUIDELINES  v1.0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9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13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B6B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6868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C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BRAND AT A GLANCE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7863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000" dirty="0">
                <a:solidFill>
                  <a:srgbClr val="2D2B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AI coding companion
</a:t>
            </a:r>
            <a:pPr indent="0" marL="0">
              <a:lnSpc>
                <a:spcPct val="115000"/>
              </a:lnSpc>
              <a:buNone/>
            </a:pPr>
            <a:r>
              <a:rPr lang="en-US" sz="4000" i="1" dirty="0">
                <a:solidFill>
                  <a:srgbClr val="7B6B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sustained practice.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3657600"/>
            <a:ext cx="7863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Codepet is a macOS application that helps people develop their thinking and ship products of their own. Guided agentic coding, adaptive feedback, and a daily-practice loop turn early exposure to programming into durable skill. Built and maintained by MURROR.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961120" y="1097280"/>
            <a:ext cx="2743200" cy="4937760"/>
          </a:xfrm>
          <a:prstGeom prst="rect">
            <a:avLst/>
          </a:prstGeom>
          <a:solidFill>
            <a:srgbClr val="1E1848"/>
          </a:solidFill>
          <a:ln/>
          <a:effectLst>
            <a:outerShdw sx="100000" sy="100000" kx="0" ky="0" algn="bl" rotWithShape="0" blurRad="1270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098280" y="13258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A89B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9098280" y="20391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companions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098280" y="2496312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A89B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9098280" y="320954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skills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098280" y="3666744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A89B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5600" dirty="0"/>
          </a:p>
        </p:txBody>
      </p:sp>
      <p:sp>
        <p:nvSpPr>
          <p:cNvPr id="12" name="Text 10"/>
          <p:cNvSpPr/>
          <p:nvPr/>
        </p:nvSpPr>
        <p:spPr>
          <a:xfrm>
            <a:off x="9098280" y="437997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domains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098280" y="4837176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A89B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9098280" y="55504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 application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C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CODEPET  ·  BRAND GUIDELINES  v1.0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035040" y="6446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C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AT A GLANCE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B6B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6868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C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EXIST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D2B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Mission, vision, aim.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C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Codepet is for, where it is going, and what we want for every user.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356616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4DEF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377440"/>
            <a:ext cx="3566160" cy="457200"/>
          </a:xfrm>
          <a:prstGeom prst="rect">
            <a:avLst/>
          </a:prstGeom>
          <a:solidFill>
            <a:srgbClr val="7B6BD8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3774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301752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2D2B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 people</a:t>
            </a:r>
            <a:endParaRPr lang="en-US" sz="2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2D2B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build real</a:t>
            </a:r>
            <a:endParaRPr lang="en-US" sz="2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2D2B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software with AI.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22960" y="484632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beyond tutorials. Coach every learner through project work — from first line of code to a shipped product.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97680" y="2377440"/>
            <a:ext cx="356616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4DEF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97680" y="2377440"/>
            <a:ext cx="3566160" cy="457200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23774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0" y="301752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2D2B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most intelligent</a:t>
            </a:r>
            <a:endParaRPr lang="en-US" sz="2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2D2B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engaging AI</a:t>
            </a:r>
            <a:endParaRPr lang="en-US" sz="2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2D2B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building apps.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72000" y="484632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go-to AI training platform for people who want to develop their thinking and ship intelligent, original products.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46720" y="2377440"/>
            <a:ext cx="356616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4DEF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46720" y="2377440"/>
            <a:ext cx="3566160" cy="457200"/>
          </a:xfrm>
          <a:prstGeom prst="rect">
            <a:avLst/>
          </a:prstGeom>
          <a:solidFill>
            <a:srgbClr val="2D2664"/>
          </a:solidFill>
          <a:ln/>
        </p:spPr>
      </p:sp>
      <p:sp>
        <p:nvSpPr>
          <p:cNvPr id="18" name="Text 16"/>
          <p:cNvSpPr/>
          <p:nvPr/>
        </p:nvSpPr>
        <p:spPr>
          <a:xfrm>
            <a:off x="8321040" y="23774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321040" y="301752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2D2B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Ship real products.</a:t>
            </a:r>
            <a:endParaRPr lang="en-US" sz="2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2D2B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 from</a:t>
            </a:r>
            <a:endParaRPr lang="en-US" sz="2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2D2B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build.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321040" y="484632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build and deliver their own products, with lessons personalized to the project in front of them.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C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CODEPET  ·  BRAND GUIDELINES  v1.0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035040" y="6446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C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MISSION · VISION · AIM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B6B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6868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C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VALUES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D2B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Values.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C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Codepet stands for, written plainly.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11064240" cy="0"/>
          </a:xfrm>
          <a:prstGeom prst="line">
            <a:avLst/>
          </a:prstGeom>
          <a:noFill/>
          <a:ln w="9525">
            <a:solidFill>
              <a:srgbClr val="E4DE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834640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i="1" dirty="0">
                <a:solidFill>
                  <a:srgbClr val="7B6B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Innovation.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0" y="2926080"/>
            <a:ext cx="7040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push past templates and tutorials. Approaching problems from new angles so people ship products with AI — faster and better, in a fraction of the time.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4023360"/>
            <a:ext cx="11064240" cy="0"/>
          </a:xfrm>
          <a:prstGeom prst="line">
            <a:avLst/>
          </a:prstGeom>
          <a:noFill/>
          <a:ln w="6350">
            <a:solidFill>
              <a:srgbClr val="E4DE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4160520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i="1" dirty="0">
                <a:solidFill>
                  <a:srgbClr val="7B6B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Creativity.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572000" y="4251960"/>
            <a:ext cx="7040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exist so people can make things that didn't exist before. Every session is a chance to turn an idea into a running product of one's own.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5349240"/>
            <a:ext cx="11064240" cy="0"/>
          </a:xfrm>
          <a:prstGeom prst="line">
            <a:avLst/>
          </a:prstGeom>
          <a:noFill/>
          <a:ln w="6350">
            <a:solidFill>
              <a:srgbClr val="E4DE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5486400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i="1" dirty="0">
                <a:solidFill>
                  <a:srgbClr val="7B6B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Approachability.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572000" y="5577840"/>
            <a:ext cx="7040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matter your age or where you're starting — bring an idea, and we'll go from zero to a real, shipped product together.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6675120"/>
            <a:ext cx="11064240" cy="0"/>
          </a:xfrm>
          <a:prstGeom prst="line">
            <a:avLst/>
          </a:prstGeom>
          <a:noFill/>
          <a:ln w="6350">
            <a:solidFill>
              <a:srgbClr val="E4DE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C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CODEPET  ·  BRAND GUIDELINES  v1.0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035040" y="6446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C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BRAND VALUES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B6B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6868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C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SYSTEM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D2B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Logo system.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C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primary mark is a pixel-art C on a white square. The wordmark is reserved for dark surfaces.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393192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4DEF1"/>
            </a:solidFill>
            <a:prstDash val="solid"/>
          </a:ln>
        </p:spPr>
      </p:sp>
      <p:pic>
        <p:nvPicPr>
          <p:cNvPr id="7" name="Image 0" descr="/sessions/ecstatic-lucid-albattani/mnt/outputs/brand-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834640"/>
            <a:ext cx="2834640" cy="2834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5806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6C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MARK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663440" y="2468880"/>
            <a:ext cx="3931920" cy="3657600"/>
          </a:xfrm>
          <a:prstGeom prst="rect">
            <a:avLst/>
          </a:prstGeom>
          <a:solidFill>
            <a:srgbClr val="1E1848"/>
          </a:solidFill>
          <a:ln/>
        </p:spPr>
      </p:sp>
      <p:pic>
        <p:nvPicPr>
          <p:cNvPr id="10" name="Image 1" descr="/sessions/ecstatic-lucid-albattani/mnt/outputs/brand-assets/text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3668167"/>
            <a:ext cx="3474720" cy="89326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63440" y="5806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6C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WORDMARK · DARK SURFACE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8778240" y="2468880"/>
            <a:ext cx="292608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4DEF1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961120" y="26060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SPACE &amp; SCALE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8961120" y="2971800"/>
            <a:ext cx="26517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space
</a:t>
            </a:r>
            <a:pPr indent="0" marL="0">
              <a:buNone/>
            </a:pPr>
            <a:r>
              <a:rPr lang="en-US" sz="1100" dirty="0">
                <a:solidFill>
                  <a:srgbClr val="6C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1× the logo height on every side.
</a:t>
            </a:r>
            <a:pPr indent="0" marL="0">
              <a:buNone/>
            </a:pPr>
            <a:r>
              <a:rPr lang="en-US" sz="1200" b="1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size
</a:t>
            </a:r>
            <a:pPr indent="0" marL="0">
              <a:buNone/>
            </a:pPr>
            <a:r>
              <a:rPr lang="en-US" sz="1100" dirty="0">
                <a:solidFill>
                  <a:srgbClr val="6C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px (digital) / 0.4 in (print).
</a:t>
            </a:r>
            <a:pPr indent="0" marL="0">
              <a:buNone/>
            </a:pPr>
            <a:r>
              <a:rPr lang="en-US" sz="1200" b="1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Rendering
</a:t>
            </a:r>
            <a:pPr indent="0" marL="0">
              <a:buNone/>
            </a:pPr>
            <a:r>
              <a:rPr lang="en-US" sz="1100" dirty="0">
                <a:solidFill>
                  <a:srgbClr val="6C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nearest-neighbor. Never bilinear, bicubic, or anti-aliased — it destroys the pixel grid.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C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CODEPET  ·  BRAND GUIDELINES  v1.0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6035040" y="6446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C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LOGO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B6B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6868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C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· THE CORE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D2B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the logo.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C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Codepet Purple is the only primary. Everything starts with the mark.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393192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4DE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6974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6C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LOGOMARK</a:t>
            </a:r>
            <a:endParaRPr lang="en-US" sz="1000" dirty="0"/>
          </a:p>
        </p:txBody>
      </p:sp>
      <p:pic>
        <p:nvPicPr>
          <p:cNvPr id="8" name="Image 0" descr="/sessions/ecstatic-lucid-albattani/mnt/outputs/brand-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3063240"/>
            <a:ext cx="2926080" cy="29260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663440" y="2514600"/>
            <a:ext cx="3931920" cy="3657600"/>
          </a:xfrm>
          <a:prstGeom prst="rect">
            <a:avLst/>
          </a:prstGeom>
          <a:solidFill>
            <a:srgbClr val="7B6BD8"/>
          </a:solidFill>
          <a:ln/>
        </p:spPr>
      </p:sp>
      <p:sp>
        <p:nvSpPr>
          <p:cNvPr id="10" name="Text 7"/>
          <p:cNvSpPr/>
          <p:nvPr/>
        </p:nvSpPr>
        <p:spPr>
          <a:xfrm>
            <a:off x="4892040" y="2697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89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892040" y="306324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Codepet</a:t>
            </a:r>
            <a:endParaRPr lang="en-US" sz="3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6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Purple.</a:t>
            </a:r>
            <a:endParaRPr lang="en-US" sz="3600" dirty="0"/>
          </a:p>
        </p:txBody>
      </p:sp>
      <p:sp>
        <p:nvSpPr>
          <p:cNvPr id="12" name="Text 9"/>
          <p:cNvSpPr/>
          <p:nvPr/>
        </p:nvSpPr>
        <p:spPr>
          <a:xfrm>
            <a:off x="4892040" y="55778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#7B6BD8
</a:t>
            </a:r>
            <a:pPr indent="0" marL="0">
              <a:buNone/>
            </a:pPr>
            <a:r>
              <a:rPr lang="en-US" sz="1200" dirty="0">
                <a:solidFill>
                  <a:srgbClr val="A89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123 · 107 · 216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8778240" y="2514600"/>
            <a:ext cx="292608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4DEF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961120" y="26974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PRIMARY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961120" y="301752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i="1" dirty="0">
                <a:solidFill>
                  <a:srgbClr val="2D2B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Everything comes</a:t>
            </a:r>
            <a:endParaRPr lang="en-US" sz="1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800" b="1" i="1" dirty="0">
                <a:solidFill>
                  <a:srgbClr val="2D2B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 to purple.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8961120" y="4114800"/>
            <a:ext cx="2651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6C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Codepet brand runs on a single purple — the one drawn into the logomark itself. Use it for buttons, CTAs, links, headlines, and any moment the brand signs its name.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6C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Violet (#534AB7) is the shadow inside the mark — not a second brand color, but the depth that makes the first one read.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C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CODEPET  ·  BRAND GUIDELINES  v1.0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035040" y="6446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C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COLOR · THE CORE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B6B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6868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C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· SECONDARY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D2B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character palette.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C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saturated tones that live with the cast. For illustration, kingdom scenes, and mood — never a primary surface.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1463040" cy="2103120"/>
          </a:xfrm>
          <a:prstGeom prst="rect">
            <a:avLst/>
          </a:prstGeom>
          <a:solidFill>
            <a:srgbClr val="E24B4A"/>
          </a:solidFill>
          <a:ln/>
        </p:spPr>
      </p:sp>
      <p:pic>
        <p:nvPicPr>
          <p:cNvPr id="7" name="Image 0" descr="/sessions/ecstatic-lucid-albattani/mnt/outputs/brand-assets/char-crash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2743200"/>
            <a:ext cx="1188720" cy="1645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47548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1E18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Crash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8640" y="51206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6C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DEBUGGER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48640" y="5440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#E24B4A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148840" y="2514600"/>
            <a:ext cx="1463040" cy="2103120"/>
          </a:xfrm>
          <a:prstGeom prst="rect">
            <a:avLst/>
          </a:prstGeom>
          <a:solidFill>
            <a:srgbClr val="029902"/>
          </a:solidFill>
          <a:ln/>
        </p:spPr>
      </p:sp>
      <p:pic>
        <p:nvPicPr>
          <p:cNvPr id="12" name="Image 1" descr="/sessions/ecstatic-lucid-albattani/mnt/outputs/brand-assets/char-sag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286000" y="2743200"/>
            <a:ext cx="1188720" cy="1645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148840" y="47548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1E18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Sage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2148840" y="51206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6C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MENTOR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2148840" y="5440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#029902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3749040" y="2514600"/>
            <a:ext cx="1463040" cy="2103120"/>
          </a:xfrm>
          <a:prstGeom prst="rect">
            <a:avLst/>
          </a:prstGeom>
          <a:solidFill>
            <a:srgbClr val="FCBE1D"/>
          </a:solidFill>
          <a:ln/>
        </p:spPr>
      </p:sp>
      <p:pic>
        <p:nvPicPr>
          <p:cNvPr id="17" name="Image 2" descr="/sessions/ecstatic-lucid-albattani/mnt/outputs/brand-assets/char-byte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886200" y="2743200"/>
            <a:ext cx="1188720" cy="1645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749040" y="47548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1E18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Byte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3749040" y="51206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6C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BUILDER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3749040" y="5440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#FCBE1D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5349240" y="2514600"/>
            <a:ext cx="1463040" cy="2103120"/>
          </a:xfrm>
          <a:prstGeom prst="rect">
            <a:avLst/>
          </a:prstGeom>
          <a:solidFill>
            <a:srgbClr val="1C40CF"/>
          </a:solidFill>
          <a:ln/>
        </p:spPr>
      </p:sp>
      <p:pic>
        <p:nvPicPr>
          <p:cNvPr id="22" name="Image 3" descr="/sessions/ecstatic-lucid-albattani/mnt/outputs/brand-assets/char-nova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486400" y="2743200"/>
            <a:ext cx="1188720" cy="16459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349240" y="47548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1E18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Nova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5349240" y="51206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6C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EXPLORER</a:t>
            </a:r>
            <a:endParaRPr lang="en-US" sz="800" dirty="0"/>
          </a:p>
        </p:txBody>
      </p:sp>
      <p:sp>
        <p:nvSpPr>
          <p:cNvPr id="25" name="Text 19"/>
          <p:cNvSpPr/>
          <p:nvPr/>
        </p:nvSpPr>
        <p:spPr>
          <a:xfrm>
            <a:off x="5349240" y="5440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#1C40CF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6949440" y="2514600"/>
            <a:ext cx="1463040" cy="2103120"/>
          </a:xfrm>
          <a:prstGeom prst="rect">
            <a:avLst/>
          </a:prstGeom>
          <a:solidFill>
            <a:srgbClr val="9538CF"/>
          </a:solidFill>
          <a:ln/>
        </p:spPr>
      </p:sp>
      <p:pic>
        <p:nvPicPr>
          <p:cNvPr id="27" name="Image 4" descr="/sessions/ecstatic-lucid-albattani/mnt/outputs/brand-assets/char-glitch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086600" y="2743200"/>
            <a:ext cx="1188720" cy="16459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949440" y="47548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1E18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Glitch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6949440" y="51206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6C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REBEL</a:t>
            </a:r>
            <a:endParaRPr lang="en-US" sz="800" dirty="0"/>
          </a:p>
        </p:txBody>
      </p:sp>
      <p:sp>
        <p:nvSpPr>
          <p:cNvPr id="30" name="Text 23"/>
          <p:cNvSpPr/>
          <p:nvPr/>
        </p:nvSpPr>
        <p:spPr>
          <a:xfrm>
            <a:off x="6949440" y="5440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#9538CF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8549640" y="2514600"/>
            <a:ext cx="1463040" cy="2103120"/>
          </a:xfrm>
          <a:prstGeom prst="rect">
            <a:avLst/>
          </a:prstGeom>
          <a:solidFill>
            <a:srgbClr val="F58345"/>
          </a:solidFill>
          <a:ln/>
        </p:spPr>
      </p:sp>
      <p:pic>
        <p:nvPicPr>
          <p:cNvPr id="32" name="Image 5" descr="/sessions/ecstatic-lucid-albattani/mnt/outputs/brand-assets/char-zero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686800" y="2743200"/>
            <a:ext cx="1188720" cy="164592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549640" y="47548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1E18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</a:t>
            </a:r>
            <a:endParaRPr lang="en-US" sz="1600" dirty="0"/>
          </a:p>
        </p:txBody>
      </p:sp>
      <p:sp>
        <p:nvSpPr>
          <p:cNvPr id="34" name="Text 26"/>
          <p:cNvSpPr/>
          <p:nvPr/>
        </p:nvSpPr>
        <p:spPr>
          <a:xfrm>
            <a:off x="8549640" y="51206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6C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MINIMALIST</a:t>
            </a:r>
            <a:endParaRPr lang="en-US" sz="800" dirty="0"/>
          </a:p>
        </p:txBody>
      </p:sp>
      <p:sp>
        <p:nvSpPr>
          <p:cNvPr id="35" name="Text 27"/>
          <p:cNvSpPr/>
          <p:nvPr/>
        </p:nvSpPr>
        <p:spPr>
          <a:xfrm>
            <a:off x="8549640" y="5440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#F58345</a:t>
            </a:r>
            <a:endParaRPr lang="en-US" sz="1100" dirty="0"/>
          </a:p>
        </p:txBody>
      </p:sp>
      <p:sp>
        <p:nvSpPr>
          <p:cNvPr id="36" name="Shape 28"/>
          <p:cNvSpPr/>
          <p:nvPr/>
        </p:nvSpPr>
        <p:spPr>
          <a:xfrm>
            <a:off x="10149840" y="2514600"/>
            <a:ext cx="1463040" cy="2103120"/>
          </a:xfrm>
          <a:prstGeom prst="rect">
            <a:avLst/>
          </a:prstGeom>
          <a:solidFill>
            <a:srgbClr val="FF8CC9"/>
          </a:solidFill>
          <a:ln/>
        </p:spPr>
      </p:sp>
      <p:pic>
        <p:nvPicPr>
          <p:cNvPr id="37" name="Image 6" descr="/sessions/ecstatic-lucid-albattani/mnt/outputs/brand-assets/char-luna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10287000" y="2743200"/>
            <a:ext cx="1188720" cy="164592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10149840" y="47548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1E18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Luna</a:t>
            </a:r>
            <a:endParaRPr lang="en-US" sz="1600" dirty="0"/>
          </a:p>
        </p:txBody>
      </p:sp>
      <p:sp>
        <p:nvSpPr>
          <p:cNvPr id="39" name="Text 30"/>
          <p:cNvSpPr/>
          <p:nvPr/>
        </p:nvSpPr>
        <p:spPr>
          <a:xfrm>
            <a:off x="10149840" y="51206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6C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DREAMER</a:t>
            </a:r>
            <a:endParaRPr lang="en-US" sz="800" dirty="0"/>
          </a:p>
        </p:txBody>
      </p:sp>
      <p:sp>
        <p:nvSpPr>
          <p:cNvPr id="40" name="Text 31"/>
          <p:cNvSpPr/>
          <p:nvPr/>
        </p:nvSpPr>
        <p:spPr>
          <a:xfrm>
            <a:off x="10149840" y="5440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#FF8CC9</a:t>
            </a:r>
            <a:endParaRPr lang="en-US" sz="1100" dirty="0"/>
          </a:p>
        </p:txBody>
      </p:sp>
      <p:sp>
        <p:nvSpPr>
          <p:cNvPr id="41" name="Shape 32"/>
          <p:cNvSpPr/>
          <p:nvPr/>
        </p:nvSpPr>
        <p:spPr>
          <a:xfrm>
            <a:off x="548640" y="5943600"/>
            <a:ext cx="11064240" cy="0"/>
          </a:xfrm>
          <a:prstGeom prst="line">
            <a:avLst/>
          </a:prstGeom>
          <a:noFill/>
          <a:ln w="9525">
            <a:solidFill>
              <a:srgbClr val="E4DEF1"/>
            </a:solidFill>
            <a:prstDash val="solid"/>
          </a:ln>
        </p:spPr>
      </p:sp>
      <p:sp>
        <p:nvSpPr>
          <p:cNvPr id="42" name="Text 33"/>
          <p:cNvSpPr/>
          <p:nvPr/>
        </p:nvSpPr>
        <p:spPr>
          <a:xfrm>
            <a:off x="548640" y="60807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 ·  </a:t>
            </a:r>
            <a:pPr indent="0" marL="0">
              <a:buNone/>
            </a:pPr>
            <a:r>
              <a:rPr lang="en-US" sz="1000" i="1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character, one color. Apply secondary tones to illustration and kingdom art. </a:t>
            </a:r>
            <a:pPr indent="0" marL="0">
              <a:buNone/>
            </a:pPr>
            <a:r>
              <a:rPr lang="en-US" sz="1000" b="1" dirty="0">
                <a:solidFill>
                  <a:srgbClr val="1E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</a:t>
            </a:r>
            <a:pPr indent="0" marL="0">
              <a:buNone/>
            </a:pPr>
            <a:r>
              <a:rPr lang="en-US" sz="1000" i="1" dirty="0">
                <a:solidFill>
                  <a:srgbClr val="6C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 a primary brand surface — that is purple's job.</a:t>
            </a:r>
            <a:endParaRPr lang="en-US" sz="1000" dirty="0"/>
          </a:p>
        </p:txBody>
      </p:sp>
      <p:sp>
        <p:nvSpPr>
          <p:cNvPr id="43" name="Text 34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C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CODEPET  ·  BRAND GUIDELINES  v1.0</a:t>
            </a:r>
            <a:endParaRPr lang="en-US" sz="900" dirty="0"/>
          </a:p>
        </p:txBody>
      </p:sp>
      <p:sp>
        <p:nvSpPr>
          <p:cNvPr id="44" name="Text 35"/>
          <p:cNvSpPr/>
          <p:nvPr/>
        </p:nvSpPr>
        <p:spPr>
          <a:xfrm>
            <a:off x="6035040" y="6446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C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COLOR · SECONDARY</a:t>
            </a:r>
            <a:endParaRPr lang="en-US" sz="900" dirty="0"/>
          </a:p>
        </p:txBody>
      </p:sp>
      <p:sp>
        <p:nvSpPr>
          <p:cNvPr id="45" name="Text 36"/>
          <p:cNvSpPr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B6B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6868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C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· NEUTRALS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D2B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Supporting neutrals.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C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tones that hold the system together around the purple core.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3566160" cy="2743200"/>
          </a:xfrm>
          <a:prstGeom prst="rect">
            <a:avLst/>
          </a:prstGeom>
          <a:solidFill>
            <a:srgbClr val="A89BF2"/>
          </a:solidFill>
          <a:ln w="6350">
            <a:solidFill>
              <a:srgbClr val="E4DE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7889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HIGHLIGHT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31546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1E18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Luna Lilac.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43891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#A89BF2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47548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168 · 155 · 242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539496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Optimism and lift. Used for highlights on pixel art, accent text on dark surfaces, and the brightest layer of the purple family.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97680" y="2514600"/>
            <a:ext cx="3566160" cy="2743200"/>
          </a:xfrm>
          <a:prstGeom prst="rect">
            <a:avLst/>
          </a:prstGeom>
          <a:solidFill>
            <a:srgbClr val="1E1848"/>
          </a:solidFill>
          <a:ln w="6350">
            <a:solidFill>
              <a:srgbClr val="E4DE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27889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89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ANCHOR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0" y="31546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Midnight Ink.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72000" y="43891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#1E1848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0" y="47548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30 · 24 · 72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297680" y="539496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serious, grown-up purple. Primary dark for text, hero backgrounds, and moments where the brand needs gravity over play. Null, the philosopher, lives here.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46720" y="2514600"/>
            <a:ext cx="3566160" cy="2743200"/>
          </a:xfrm>
          <a:prstGeom prst="rect">
            <a:avLst/>
          </a:prstGeom>
          <a:solidFill>
            <a:srgbClr val="F7F5FC"/>
          </a:solidFill>
          <a:ln w="6350">
            <a:solidFill>
              <a:srgbClr val="E4DE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21040" y="27889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CANVAS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321040" y="31546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1E18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Cream Lavender.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321040" y="43891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#F7F5FC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21040" y="47548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247 · 245 · 252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046720" y="539496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pure white. A warm, whispered lavender that lets the purple family breathe. The background for every long-form Codepet surface.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C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CODEPET  ·  BRAND GUIDELINES  v1.0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035040" y="6446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C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COLOR · NEUTRALS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B6B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6868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C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D2B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Typography system.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C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serif display anchors the brand. A clean sans-serif carries every UI and long-form surface.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694944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4DE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606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2834640"/>
            <a:ext cx="6400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0" b="1" dirty="0">
                <a:solidFill>
                  <a:srgbClr val="1E18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Aa</a:t>
            </a:r>
            <a:endParaRPr lang="en-US" sz="14000" dirty="0"/>
          </a:p>
        </p:txBody>
      </p:sp>
      <p:sp>
        <p:nvSpPr>
          <p:cNvPr id="9" name="Text 7"/>
          <p:cNvSpPr/>
          <p:nvPr/>
        </p:nvSpPr>
        <p:spPr>
          <a:xfrm>
            <a:off x="777240" y="48006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2B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Georgia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77240" y="53035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Headlines · Section titles · Pull quotes · Campaign copy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56692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28–96 pt  ·  Bold or italic  ·  Mixed case only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680960" y="2468880"/>
            <a:ext cx="4023360" cy="3657600"/>
          </a:xfrm>
          <a:prstGeom prst="rect">
            <a:avLst/>
          </a:prstGeom>
          <a:solidFill>
            <a:srgbClr val="1E1848"/>
          </a:solidFill>
          <a:ln/>
        </p:spPr>
      </p:sp>
      <p:sp>
        <p:nvSpPr>
          <p:cNvPr id="13" name="Text 11"/>
          <p:cNvSpPr/>
          <p:nvPr/>
        </p:nvSpPr>
        <p:spPr>
          <a:xfrm>
            <a:off x="7909560" y="2606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89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909560" y="283464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</a:t>
            </a:r>
            <a:endParaRPr lang="en-US" sz="11000" dirty="0"/>
          </a:p>
        </p:txBody>
      </p:sp>
      <p:sp>
        <p:nvSpPr>
          <p:cNvPr id="15" name="Text 13"/>
          <p:cNvSpPr/>
          <p:nvPr/>
        </p:nvSpPr>
        <p:spPr>
          <a:xfrm>
            <a:off x="7909560" y="4572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Calibri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909560" y="5074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9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· Body copy · Captions · Data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909560" y="5440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9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11–16 pt  ·  Regular &amp; Bold  ·  1.4 line-height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C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CODEPET  ·  BRAND GUIDELINES  v1.0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035040" y="6446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C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TYPOGRAPHY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B6B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6868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C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&amp; TONE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D2B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Tone of voice.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C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companion that keeps the mood light, the feedback kind, the advice open, and the knowledge deep.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73152" cy="1645920"/>
          </a:xfrm>
          <a:prstGeom prst="rect">
            <a:avLst/>
          </a:prstGeom>
          <a:solidFill>
            <a:srgbClr val="7B6BD8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248716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2B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Playful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49808" y="297180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6C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light, warm atmosphere. Work shouldn't feel like a chore — a well-placed joke is a feature, not a bug.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2514600"/>
            <a:ext cx="73152" cy="1645920"/>
          </a:xfrm>
          <a:prstGeom prst="rect">
            <a:avLst/>
          </a:prstGeom>
          <a:solidFill>
            <a:srgbClr val="7B6BD8"/>
          </a:solidFill>
          <a:ln/>
        </p:spPr>
      </p:sp>
      <p:sp>
        <p:nvSpPr>
          <p:cNvPr id="10" name="Text 8"/>
          <p:cNvSpPr/>
          <p:nvPr/>
        </p:nvSpPr>
        <p:spPr>
          <a:xfrm>
            <a:off x="3584448" y="248716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2B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Encouraging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584448" y="297180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6C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someone feels stuck or overwhelmed, meet them with belief. Progress over perfection, every session.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2514600"/>
            <a:ext cx="73152" cy="1645920"/>
          </a:xfrm>
          <a:prstGeom prst="rect">
            <a:avLst/>
          </a:prstGeom>
          <a:solidFill>
            <a:srgbClr val="7B6BD8"/>
          </a:solidFill>
          <a:ln/>
        </p:spPr>
      </p:sp>
      <p:sp>
        <p:nvSpPr>
          <p:cNvPr id="13" name="Text 11"/>
          <p:cNvSpPr/>
          <p:nvPr/>
        </p:nvSpPr>
        <p:spPr>
          <a:xfrm>
            <a:off x="6419088" y="248716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2B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Open-minded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19088" y="297180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6C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options, not orders. Surface multiple angles on the problem so the builder can choose for themselves.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052560" y="2514600"/>
            <a:ext cx="73152" cy="1645920"/>
          </a:xfrm>
          <a:prstGeom prst="rect">
            <a:avLst/>
          </a:prstGeom>
          <a:solidFill>
            <a:srgbClr val="7B6BD8"/>
          </a:solidFill>
          <a:ln/>
        </p:spPr>
      </p:sp>
      <p:sp>
        <p:nvSpPr>
          <p:cNvPr id="16" name="Text 14"/>
          <p:cNvSpPr/>
          <p:nvPr/>
        </p:nvSpPr>
        <p:spPr>
          <a:xfrm>
            <a:off x="9253728" y="248716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2B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Knowledgeable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253728" y="297180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6C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the right knowledge for the project in front of them. Deep training, applied to a single builder's context.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480560"/>
            <a:ext cx="557784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7EC9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6177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7EC9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77240" y="498348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Nice instinct on that loop. </a:t>
            </a:r>
            <a:pPr indent="0" marL="0">
              <a:buNone/>
            </a:pPr>
            <a:r>
              <a:rPr lang="en-US" sz="1300" i="1" dirty="0">
                <a:solidFill>
                  <a:srgbClr val="6C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Shorter with .map(), looser with a for-loop — try both and see which feels right?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309360" y="4480560"/>
            <a:ext cx="557784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F9616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37960" y="46177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DON'T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37960" y="498348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inefficient. </a:t>
            </a:r>
            <a:pPr indent="0" marL="0">
              <a:buNone/>
            </a:pPr>
            <a:r>
              <a:rPr lang="en-US" sz="1300" i="1" dirty="0">
                <a:solidFill>
                  <a:srgbClr val="6C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.map() instead.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C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CODEPET  ·  BRAND GUIDELINES  v1.0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035040" y="6446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C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VOICE &amp; TONE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B6B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6868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C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D2B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character system.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C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starter companions, each tuned to a distinct learning archetype.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21208" y="2651760"/>
            <a:ext cx="13258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4DEF1"/>
            </a:solidFill>
            <a:prstDash val="solid"/>
          </a:ln>
        </p:spPr>
      </p:sp>
      <p:pic>
        <p:nvPicPr>
          <p:cNvPr id="7" name="Image 0" descr="/sessions/ecstatic-lucid-albattani/mnt/outputs/brand-assets/char-byt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04088" y="2743200"/>
            <a:ext cx="960120" cy="12344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21208" y="402336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8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Byte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21208" y="429768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6C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builder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920240" y="2651760"/>
            <a:ext cx="13258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4DEF1"/>
            </a:solidFill>
            <a:prstDash val="solid"/>
          </a:ln>
        </p:spPr>
      </p:sp>
      <p:pic>
        <p:nvPicPr>
          <p:cNvPr id="11" name="Image 1" descr="/sessions/ecstatic-lucid-albattani/mnt/outputs/brand-assets/char-nova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103120" y="2743200"/>
            <a:ext cx="960120" cy="12344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920240" y="402336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8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Nova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920240" y="429768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6C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explorer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3319272" y="2651760"/>
            <a:ext cx="13258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4DEF1"/>
            </a:solidFill>
            <a:prstDash val="solid"/>
          </a:ln>
        </p:spPr>
      </p:sp>
      <p:pic>
        <p:nvPicPr>
          <p:cNvPr id="15" name="Image 2" descr="/sessions/ecstatic-lucid-albattani/mnt/outputs/brand-assets/char-crash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502152" y="2743200"/>
            <a:ext cx="960120" cy="12344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319272" y="402336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8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Crash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3319272" y="429768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6C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debugger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4718304" y="2651760"/>
            <a:ext cx="13258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4DEF1"/>
            </a:solidFill>
            <a:prstDash val="solid"/>
          </a:ln>
        </p:spPr>
      </p:sp>
      <p:pic>
        <p:nvPicPr>
          <p:cNvPr id="19" name="Image 3" descr="/sessions/ecstatic-lucid-albattani/mnt/outputs/brand-assets/char-luna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901184" y="2743200"/>
            <a:ext cx="960120" cy="12344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718304" y="402336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8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Luna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4718304" y="429768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6C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dreamer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>
            <a:off x="6117336" y="2651760"/>
            <a:ext cx="13258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4DEF1"/>
            </a:solidFill>
            <a:prstDash val="solid"/>
          </a:ln>
        </p:spPr>
      </p:sp>
      <p:pic>
        <p:nvPicPr>
          <p:cNvPr id="23" name="Image 4" descr="/sessions/ecstatic-lucid-albattani/mnt/outputs/brand-assets/char-sage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300216" y="2743200"/>
            <a:ext cx="960120" cy="123444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117336" y="402336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8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Sage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6117336" y="429768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6C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mentor</a:t>
            </a:r>
            <a:endParaRPr lang="en-US" sz="900" dirty="0"/>
          </a:p>
        </p:txBody>
      </p:sp>
      <p:sp>
        <p:nvSpPr>
          <p:cNvPr id="26" name="Shape 19"/>
          <p:cNvSpPr/>
          <p:nvPr/>
        </p:nvSpPr>
        <p:spPr>
          <a:xfrm>
            <a:off x="7516368" y="2651760"/>
            <a:ext cx="13258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4DEF1"/>
            </a:solidFill>
            <a:prstDash val="solid"/>
          </a:ln>
        </p:spPr>
      </p:sp>
      <p:pic>
        <p:nvPicPr>
          <p:cNvPr id="27" name="Image 5" descr="/sessions/ecstatic-lucid-albattani/mnt/outputs/brand-assets/char-glitch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7699248" y="2743200"/>
            <a:ext cx="960120" cy="123444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7516368" y="402336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8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Glitch</a:t>
            </a:r>
            <a:endParaRPr lang="en-US" sz="1300" dirty="0"/>
          </a:p>
        </p:txBody>
      </p:sp>
      <p:sp>
        <p:nvSpPr>
          <p:cNvPr id="29" name="Text 21"/>
          <p:cNvSpPr/>
          <p:nvPr/>
        </p:nvSpPr>
        <p:spPr>
          <a:xfrm>
            <a:off x="7516368" y="429768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6C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rebel</a:t>
            </a:r>
            <a:endParaRPr lang="en-US" sz="900" dirty="0"/>
          </a:p>
        </p:txBody>
      </p:sp>
      <p:sp>
        <p:nvSpPr>
          <p:cNvPr id="30" name="Shape 22"/>
          <p:cNvSpPr/>
          <p:nvPr/>
        </p:nvSpPr>
        <p:spPr>
          <a:xfrm>
            <a:off x="8915400" y="2651760"/>
            <a:ext cx="13258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4DEF1"/>
            </a:solidFill>
            <a:prstDash val="solid"/>
          </a:ln>
        </p:spPr>
      </p:sp>
      <p:pic>
        <p:nvPicPr>
          <p:cNvPr id="31" name="Image 6" descr="/sessions/ecstatic-lucid-albattani/mnt/outputs/brand-assets/char-zero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9098280" y="2743200"/>
            <a:ext cx="960120" cy="123444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8915400" y="402336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8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</a:t>
            </a:r>
            <a:endParaRPr lang="en-US" sz="1300" dirty="0"/>
          </a:p>
        </p:txBody>
      </p:sp>
      <p:sp>
        <p:nvSpPr>
          <p:cNvPr id="33" name="Text 24"/>
          <p:cNvSpPr/>
          <p:nvPr/>
        </p:nvSpPr>
        <p:spPr>
          <a:xfrm>
            <a:off x="8915400" y="429768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6C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minimalist</a:t>
            </a:r>
            <a:endParaRPr lang="en-US" sz="900" dirty="0"/>
          </a:p>
        </p:txBody>
      </p:sp>
      <p:sp>
        <p:nvSpPr>
          <p:cNvPr id="34" name="Shape 25"/>
          <p:cNvSpPr/>
          <p:nvPr/>
        </p:nvSpPr>
        <p:spPr>
          <a:xfrm>
            <a:off x="10314432" y="2651760"/>
            <a:ext cx="13258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4DEF1"/>
            </a:solidFill>
            <a:prstDash val="solid"/>
          </a:ln>
        </p:spPr>
      </p:sp>
      <p:pic>
        <p:nvPicPr>
          <p:cNvPr id="35" name="Image 7" descr="/sessions/ecstatic-lucid-albattani/mnt/outputs/brand-assets/char-null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10497312" y="2743200"/>
            <a:ext cx="960120" cy="1234440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10314432" y="402336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8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Null</a:t>
            </a:r>
            <a:endParaRPr lang="en-US" sz="1300" dirty="0"/>
          </a:p>
        </p:txBody>
      </p:sp>
      <p:sp>
        <p:nvSpPr>
          <p:cNvPr id="37" name="Text 27"/>
          <p:cNvSpPr/>
          <p:nvPr/>
        </p:nvSpPr>
        <p:spPr>
          <a:xfrm>
            <a:off x="10314432" y="429768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6C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philosopher</a:t>
            </a:r>
            <a:endParaRPr lang="en-US" sz="900" dirty="0"/>
          </a:p>
        </p:txBody>
      </p:sp>
      <p:sp>
        <p:nvSpPr>
          <p:cNvPr id="38" name="Shape 28"/>
          <p:cNvSpPr/>
          <p:nvPr/>
        </p:nvSpPr>
        <p:spPr>
          <a:xfrm>
            <a:off x="548640" y="4754880"/>
            <a:ext cx="11064240" cy="1371600"/>
          </a:xfrm>
          <a:prstGeom prst="rect">
            <a:avLst/>
          </a:prstGeom>
          <a:solidFill>
            <a:srgbClr val="1E1848"/>
          </a:solidFill>
          <a:ln/>
        </p:spPr>
      </p:sp>
      <p:sp>
        <p:nvSpPr>
          <p:cNvPr id="39" name="Text 29"/>
          <p:cNvSpPr/>
          <p:nvPr/>
        </p:nvSpPr>
        <p:spPr>
          <a:xfrm>
            <a:off x="822960" y="4892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89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USAGE</a:t>
            </a:r>
            <a:endParaRPr lang="en-US" sz="1000" dirty="0"/>
          </a:p>
        </p:txBody>
      </p:sp>
      <p:sp>
        <p:nvSpPr>
          <p:cNvPr id="40" name="Text 30"/>
          <p:cNvSpPr/>
          <p:nvPr/>
        </p:nvSpPr>
        <p:spPr>
          <a:xfrm>
            <a:off x="822960" y="52578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full-body  ·  </a:t>
            </a:r>
            <a:pPr indent="0" marL="0">
              <a:buNone/>
            </a:pPr>
            <a:r>
              <a:rPr lang="en-US" sz="1300" dirty="0">
                <a:solidFill>
                  <a:srgbClr val="A89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crop to face.  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nearest-neighbor  ·  </a:t>
            </a:r>
            <a:pPr indent="0" marL="0">
              <a:buNone/>
            </a:pPr>
            <a:r>
              <a:rPr lang="en-US" sz="1300" dirty="0">
                <a:solidFill>
                  <a:srgbClr val="A89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blur or bevel.  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in character  ·  </a:t>
            </a:r>
            <a:pPr indent="0" marL="0">
              <a:buNone/>
            </a:pPr>
            <a:r>
              <a:rPr lang="en-US" sz="1300" dirty="0">
                <a:solidFill>
                  <a:srgbClr val="A89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 their personality.</a:t>
            </a:r>
            <a:endParaRPr lang="en-US" sz="1300" dirty="0"/>
          </a:p>
        </p:txBody>
      </p:sp>
      <p:sp>
        <p:nvSpPr>
          <p:cNvPr id="41" name="Text 31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C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CODEPET  ·  BRAND GUIDELINES  v1.0</a:t>
            </a:r>
            <a:endParaRPr lang="en-US" sz="900" dirty="0"/>
          </a:p>
        </p:txBody>
      </p:sp>
      <p:sp>
        <p:nvSpPr>
          <p:cNvPr id="42" name="Text 32"/>
          <p:cNvSpPr/>
          <p:nvPr/>
        </p:nvSpPr>
        <p:spPr>
          <a:xfrm>
            <a:off x="6035040" y="6446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C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CHARACTERS</a:t>
            </a:r>
            <a:endParaRPr lang="en-US" sz="900" dirty="0"/>
          </a:p>
        </p:txBody>
      </p:sp>
      <p:sp>
        <p:nvSpPr>
          <p:cNvPr id="43" name="Text 33"/>
          <p:cNvSpPr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B6B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6868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C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ART PRINCIPLES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D2B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Pixel art standards.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C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art is a core brand asset. Rendering, scale, and source fidelity are non-negotiable.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356616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4DE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6517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89B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22960" y="31089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2B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Nearest-neighbor, always.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36118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.interpolation(.none) in SwiftUI and image-rendering: pixelated in CSS. No bilinear. No bicubic. Ever.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0" y="2514600"/>
            <a:ext cx="356616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4DE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26517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89B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572000" y="31089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2B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Integer scales only.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0" y="36118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art at 1×, 2×, 3×. Fractional scales (1.5×, 2.25×) create shimmer — use the next integer up and crop.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46720" y="2514600"/>
            <a:ext cx="356616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4DEF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321040" y="26517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89B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8321040" y="31089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2B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Kingdom scenes stay put.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21040" y="36118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1280 × 800 PNGs. Never re-render or AI-upscale. Replace a kingdom only with a new 1280 × 800 source.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754880"/>
            <a:ext cx="557784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7EC9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892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EC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 ·  Crisp, integer-scaled</a:t>
            </a:r>
            <a:endParaRPr lang="en-US" sz="1000" dirty="0"/>
          </a:p>
        </p:txBody>
      </p:sp>
      <p:pic>
        <p:nvPicPr>
          <p:cNvPr id="20" name="Image 0" descr="/sessions/ecstatic-lucid-albattani/mnt/outputs/brand-assets/char-nov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46320" y="4800600"/>
            <a:ext cx="1188720" cy="123444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777240" y="525780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Pixels aligned. </a:t>
            </a:r>
            <a:pPr indent="0" marL="0">
              <a:buNone/>
            </a:pPr>
            <a:r>
              <a:rPr lang="en-US" sz="1200" dirty="0">
                <a:solidFill>
                  <a:srgbClr val="6C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edge on the grid, every color from the palette.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309360" y="4754880"/>
            <a:ext cx="557784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F9616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37960" y="4892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 ·  Smoothed, blurred, re-drawn</a:t>
            </a:r>
            <a:endParaRPr lang="en-US" sz="1000" dirty="0"/>
          </a:p>
        </p:txBody>
      </p:sp>
      <p:pic>
        <p:nvPicPr>
          <p:cNvPr id="24" name="Image 1" descr="/sessions/ecstatic-lucid-albattani/mnt/outputs/brand-assets/char-nova.png">    </p:cNvPr>
          <p:cNvPicPr>
            <a:picLocks noChangeAspect="1"/>
          </p:cNvPicPr>
          <p:nvPr/>
        </p:nvPicPr>
        <p:blipFill>
          <a:blip r:embed="rId2">
            <a:alphaModFix amt="45000"/>
          </a:blip>
          <a:srcRect l="0" r="0" t="0" b="0"/>
          <a:stretch/>
        </p:blipFill>
        <p:spPr>
          <a:xfrm>
            <a:off x="10561320" y="4800600"/>
            <a:ext cx="1188720" cy="123444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6537960" y="525780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AI upscaling. </a:t>
            </a:r>
            <a:pPr indent="0" marL="0">
              <a:buNone/>
            </a:pPr>
            <a:r>
              <a:rPr lang="en-US" sz="1200" dirty="0">
                <a:solidFill>
                  <a:srgbClr val="6C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drop shadows, gradients, or “modern” redraws of the cast.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C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CODEPET  ·  BRAND GUIDELINES  v1.0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6035040" y="6446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6C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PIXEL ART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C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8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A89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MURROR  ·  CONTACT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229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6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Questions,</a:t>
            </a:r>
            <a:endParaRPr lang="en-US" sz="6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feedback,</a:t>
            </a:r>
            <a:endParaRPr lang="en-US" sz="6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partnerships.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48640" y="4297680"/>
            <a:ext cx="6766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A89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living document. Version 1.0 — April 2026. The Codepet brand team maintains this reference and updates it as the product evolves. For clarification, approvals, or partnership inquiries, the team is reachable below.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5394960"/>
            <a:ext cx="54864" cy="914400"/>
          </a:xfrm>
          <a:prstGeom prst="rect">
            <a:avLst/>
          </a:prstGeom>
          <a:solidFill>
            <a:srgbClr val="7B6BD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53949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hello@murror.app
</a:t>
            </a:r>
            <a:pPr indent="0" marL="0">
              <a:buNone/>
            </a:pPr>
            <a:r>
              <a:rPr lang="en-US" sz="1300" dirty="0">
                <a:solidFill>
                  <a:srgbClr val="A89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murror.app   ·   @codepet   ·   San Francisco + Ha Noi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778240" y="1828800"/>
            <a:ext cx="2834640" cy="283464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8" name="Image 0" descr="/sessions/ecstatic-lucid-albattani/mnt/outputs/brand-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0" y="2011680"/>
            <a:ext cx="2468880" cy="2468880"/>
          </a:xfrm>
          <a:prstGeom prst="rect">
            <a:avLst/>
          </a:prstGeom>
        </p:spPr>
      </p:pic>
      <p:pic>
        <p:nvPicPr>
          <p:cNvPr id="9" name="Image 1" descr="/sessions/ecstatic-lucid-albattani/mnt/outputs/brand-assets/text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0" y="4983480"/>
            <a:ext cx="2560320" cy="65819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A89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CODEPET  ·  BRAND GUIDELINES  v1.0  ·  APR 2026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9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MURROR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Codepet Brand Guidelines</dc:title>
  <dc:subject>Brand Guidelines v1.0</dc:subject>
  <dc:creator>MURROR</dc:creator>
  <cp:lastModifiedBy>MURROR</cp:lastModifiedBy>
  <cp:revision>1</cp:revision>
  <dcterms:created xsi:type="dcterms:W3CDTF">2026-04-21T16:19:24Z</dcterms:created>
  <dcterms:modified xsi:type="dcterms:W3CDTF">2026-04-21T16:19:24Z</dcterms:modified>
</cp:coreProperties>
</file>